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74" r:id="rId7"/>
    <p:sldId id="263" r:id="rId8"/>
    <p:sldId id="264" r:id="rId9"/>
    <p:sldId id="267" r:id="rId10"/>
    <p:sldId id="265" r:id="rId11"/>
    <p:sldId id="266" r:id="rId12"/>
    <p:sldId id="269" r:id="rId13"/>
    <p:sldId id="268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8D83"/>
    <a:srgbClr val="CC6F62"/>
    <a:srgbClr val="D17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FC4C36-4DBE-E3CA-1F57-F2125C52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9F42B0-F52E-ED8A-93C7-48E5CC66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97BBA0-4F33-6177-F94E-4EEC1B18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0AB1C5-2E01-6F6C-99A6-5F961E0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BAB3AB-3AFB-45EB-7D26-15B1DFE6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FCDBE-41DB-E8DF-0609-08072AD2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61EFF-3BFD-855B-0B00-61C3D17F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F8C2B4-24E9-05E5-B9DA-AE8F2889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820768-6C4E-9FDD-580D-A22F470C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716A1A-E433-9EC7-28B1-A48F04E8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1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A77B97-5E9B-F0C4-AB77-F152D237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EB96DF-7036-FEB1-7E6D-ED613F116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9A7893-8041-4E01-C3E0-8C7965CC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B5EDD1-3BB6-072E-56B6-75232726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E7537-9DAC-A302-D03B-BAC3E6A4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67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AB1FB-1470-2211-B061-2FA669E7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54BB27-0F81-150D-D8BD-E62F9699C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1A736C-BDE4-748D-67F0-5A090FE42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7B92B1-47E7-813B-88DC-E597C9E8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D6AE98-862E-DDFC-A6EC-AD78A4B0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60F683-D81A-32CD-7FEF-AF6C522F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7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23742-8771-8577-DFD3-A71E45A8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62DDF4-572E-31B7-EB70-67FF47E05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5A2C50-141F-1E27-5042-43CD81B5C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2636AD-A3FF-B4FB-C1C3-42B563D2B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B69D1F-80D0-F621-6385-E4E7B80C2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AFE33D-DB29-5B6D-5D6B-C5137DD7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5114FC-37A6-798E-F949-F0CB6A6A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527093-B86A-3835-80FF-316930DF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97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FAB23-D19A-C5A5-3B4F-9E8C51D0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E5AC8B5-023F-E06C-0794-C855049C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A7F7E7-00E1-BF53-54D6-B3DB2871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A4BBB3-E2E7-C33F-962D-2E2C6845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94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83B81B7-3072-1983-D8A4-1C3C7930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8D6F90-AE1F-60A2-E40F-A4B609F4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FA633E-4569-DD13-4B93-81964FA0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33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26A9A5-225F-39EC-ED63-5DD83D04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BD3691-DC30-E259-647C-3CF69C23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922083-3C26-484D-7BE2-37626F02B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024D8C-AC42-ABAC-58D2-23F064FF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5DDD8A-67C6-C40F-5929-A360BBA4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5439B3-6B7B-852D-C986-B7F688D9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3BC15F-97F6-7744-3B4D-426A612F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C22DFC-85DD-8567-3FAC-D2A5E2320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1AAF9B-8775-5FA3-0B77-1895013C6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CB6060-651B-0A6A-3839-1B2A2C7A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DE4DE9-53C8-2360-CDDB-7873F49F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A6BEFC-DEB2-4743-D481-6160A841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76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DDEA5-FB29-8E4D-4C24-DC475365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EC0A25-CA0C-9A61-0EFC-D5B444D5D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78CD1D-C8BF-A683-25AC-66CE1319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65A5A0-E46E-F3CB-4F70-0BAF55247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63BDB-94EA-75CA-CD12-C50BDBF7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87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2042AB-453B-40C8-4067-68A1789ED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ED647A-CA26-7072-679D-03FCD90F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3797E1-6C55-7EDD-0B8B-58C8B513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C600D3-BF8C-0F41-7139-A16C28B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6E5670-CA4E-6298-CF6E-9793EF4D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90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C239D0-B84A-5171-7F64-0B6A3FA8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7BE7C8-8725-D809-9DFD-E8A6BE12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AF0540-8679-3E73-E555-E8CBD2B64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F4D99-7DFA-4201-BD53-343E344D9E1F}" type="datetimeFigureOut">
              <a:rPr lang="fr-FR" smtClean="0"/>
              <a:t>31/10/2023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D0B3AD-6712-32B3-76EC-D3260CA2A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272DE-3795-8BE5-88EE-B17559AE6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0767B-F20A-4C6A-8F35-CFE58C519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4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261D4A7-02D1-9300-DCC0-07C514CFC1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8" r="15446"/>
          <a:stretch/>
        </p:blipFill>
        <p:spPr>
          <a:xfrm>
            <a:off x="5389983" y="0"/>
            <a:ext cx="6802017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7824E0E-B581-1E33-7935-F7F478EAD21D}"/>
              </a:ext>
            </a:extLst>
          </p:cNvPr>
          <p:cNvSpPr txBox="1"/>
          <p:nvPr/>
        </p:nvSpPr>
        <p:spPr>
          <a:xfrm>
            <a:off x="279537" y="2322699"/>
            <a:ext cx="4782453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Module : </a:t>
            </a:r>
          </a:p>
          <a:p>
            <a:pPr algn="ctr">
              <a:lnSpc>
                <a:spcPct val="150000"/>
              </a:lnSpc>
            </a:pPr>
            <a:r>
              <a:rPr lang="fr-F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Méthodologie de travail universitaire</a:t>
            </a:r>
          </a:p>
          <a:p>
            <a:pPr algn="ctr">
              <a:lnSpc>
                <a:spcPct val="150000"/>
              </a:lnSpc>
            </a:pP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(MTU)</a:t>
            </a:r>
            <a:endParaRPr lang="fr-FR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 descr="Accueil - UCD">
            <a:extLst>
              <a:ext uri="{FF2B5EF4-FFF2-40B4-BE49-F238E27FC236}">
                <a16:creationId xmlns:a16="http://schemas.microsoft.com/office/drawing/2014/main" id="{D72DBE68-8E23-4DAF-64DD-A942A8F9D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647" y="312768"/>
            <a:ext cx="1954234" cy="113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488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C3FBD-1C79-843C-26E8-BF725229081F}"/>
              </a:ext>
            </a:extLst>
          </p:cNvPr>
          <p:cNvSpPr/>
          <p:nvPr/>
        </p:nvSpPr>
        <p:spPr>
          <a:xfrm>
            <a:off x="0" y="0"/>
            <a:ext cx="4505102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5D0D56D-8526-3C62-1F28-6C453CB28250}"/>
              </a:ext>
            </a:extLst>
          </p:cNvPr>
          <p:cNvSpPr txBox="1"/>
          <p:nvPr/>
        </p:nvSpPr>
        <p:spPr>
          <a:xfrm>
            <a:off x="6122260" y="252444"/>
            <a:ext cx="4462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Enseignement supérieur</a:t>
            </a:r>
            <a:endParaRPr lang="fr-FR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E9CB87-E8C4-5F32-6AF3-0739F0B99469}"/>
              </a:ext>
            </a:extLst>
          </p:cNvPr>
          <p:cNvSpPr txBox="1"/>
          <p:nvPr/>
        </p:nvSpPr>
        <p:spPr>
          <a:xfrm>
            <a:off x="208991" y="252444"/>
            <a:ext cx="4087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Enseignement secondaire</a:t>
            </a:r>
            <a:endParaRPr lang="fr-FR" sz="32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EAD867-CFAD-206A-364C-F73D5E62C1E2}"/>
              </a:ext>
            </a:extLst>
          </p:cNvPr>
          <p:cNvSpPr txBox="1"/>
          <p:nvPr/>
        </p:nvSpPr>
        <p:spPr>
          <a:xfrm>
            <a:off x="1513832" y="5587022"/>
            <a:ext cx="1818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Diplôme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</a:rPr>
              <a:t>Baccalauréat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919658D-5BAA-6F01-7E25-D53686A30A94}"/>
              </a:ext>
            </a:extLst>
          </p:cNvPr>
          <p:cNvGrpSpPr/>
          <p:nvPr/>
        </p:nvGrpSpPr>
        <p:grpSpPr>
          <a:xfrm>
            <a:off x="1246767" y="1351076"/>
            <a:ext cx="3258335" cy="4289166"/>
            <a:chOff x="1246767" y="1438125"/>
            <a:chExt cx="3258335" cy="4289166"/>
          </a:xfrm>
        </p:grpSpPr>
        <p:pic>
          <p:nvPicPr>
            <p:cNvPr id="2050" name="Picture 2" descr="Porte Vecteurs de stock et clip-Art vectoriel -hous0577-CoolCLIPS.com">
              <a:extLst>
                <a:ext uri="{FF2B5EF4-FFF2-40B4-BE49-F238E27FC236}">
                  <a16:creationId xmlns:a16="http://schemas.microsoft.com/office/drawing/2014/main" id="{5EA13DFC-2AFF-66C4-9ADA-FA6179A011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186"/>
            <a:stretch/>
          </p:blipFill>
          <p:spPr bwMode="auto">
            <a:xfrm>
              <a:off x="1246767" y="1438125"/>
              <a:ext cx="3258335" cy="4289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5BC9D249-7248-1159-CDF9-4599896C9709}"/>
                </a:ext>
              </a:extLst>
            </p:cNvPr>
            <p:cNvSpPr/>
            <p:nvPr/>
          </p:nvSpPr>
          <p:spPr>
            <a:xfrm>
              <a:off x="2773680" y="2170176"/>
              <a:ext cx="1176528" cy="3541776"/>
            </a:xfrm>
            <a:custGeom>
              <a:avLst/>
              <a:gdLst>
                <a:gd name="connsiteX0" fmla="*/ 1109472 w 1176528"/>
                <a:gd name="connsiteY0" fmla="*/ 3541776 h 3541776"/>
                <a:gd name="connsiteX1" fmla="*/ 0 w 1176528"/>
                <a:gd name="connsiteY1" fmla="*/ 2706624 h 3541776"/>
                <a:gd name="connsiteX2" fmla="*/ 128016 w 1176528"/>
                <a:gd name="connsiteY2" fmla="*/ 0 h 3541776"/>
                <a:gd name="connsiteX3" fmla="*/ 1176528 w 1176528"/>
                <a:gd name="connsiteY3" fmla="*/ 469392 h 3541776"/>
                <a:gd name="connsiteX4" fmla="*/ 1109472 w 1176528"/>
                <a:gd name="connsiteY4" fmla="*/ 3541776 h 3541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6528" h="3541776">
                  <a:moveTo>
                    <a:pt x="1109472" y="3541776"/>
                  </a:moveTo>
                  <a:lnTo>
                    <a:pt x="0" y="2706624"/>
                  </a:lnTo>
                  <a:lnTo>
                    <a:pt x="128016" y="0"/>
                  </a:lnTo>
                  <a:lnTo>
                    <a:pt x="1176528" y="469392"/>
                  </a:lnTo>
                  <a:lnTo>
                    <a:pt x="1109472" y="35417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A8BA2439-A1E5-2222-DAE9-A9488255C7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50" b="29700"/>
          <a:stretch/>
        </p:blipFill>
        <p:spPr>
          <a:xfrm>
            <a:off x="7394471" y="2875260"/>
            <a:ext cx="2074649" cy="2112496"/>
          </a:xfrm>
          <a:prstGeom prst="round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CE60850-0A81-07F4-083B-5C50DE7F2766}"/>
              </a:ext>
            </a:extLst>
          </p:cNvPr>
          <p:cNvSpPr/>
          <p:nvPr/>
        </p:nvSpPr>
        <p:spPr>
          <a:xfrm>
            <a:off x="7658631" y="1441406"/>
            <a:ext cx="1546328" cy="872808"/>
          </a:xfrm>
          <a:prstGeom prst="roundRect">
            <a:avLst/>
          </a:prstGeom>
          <a:solidFill>
            <a:srgbClr val="D17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Adaptation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43C5B9A-7D23-7E18-FF2F-0A36A341F216}"/>
              </a:ext>
            </a:extLst>
          </p:cNvPr>
          <p:cNvSpPr/>
          <p:nvPr/>
        </p:nvSpPr>
        <p:spPr>
          <a:xfrm>
            <a:off x="10019303" y="3495104"/>
            <a:ext cx="1546328" cy="872808"/>
          </a:xfrm>
          <a:prstGeom prst="roundRect">
            <a:avLst/>
          </a:prstGeom>
          <a:solidFill>
            <a:srgbClr val="D17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Gestion du temps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60AAA25-618F-07E8-4DF0-78DB15DAF9B7}"/>
              </a:ext>
            </a:extLst>
          </p:cNvPr>
          <p:cNvSpPr/>
          <p:nvPr/>
        </p:nvSpPr>
        <p:spPr>
          <a:xfrm>
            <a:off x="7658631" y="5548802"/>
            <a:ext cx="1546328" cy="872808"/>
          </a:xfrm>
          <a:prstGeom prst="roundRect">
            <a:avLst/>
          </a:prstGeom>
          <a:solidFill>
            <a:srgbClr val="D17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EC6A7CF-1158-E7F2-833C-7157C45A0DA9}"/>
              </a:ext>
            </a:extLst>
          </p:cNvPr>
          <p:cNvSpPr/>
          <p:nvPr/>
        </p:nvSpPr>
        <p:spPr>
          <a:xfrm>
            <a:off x="5293249" y="3495104"/>
            <a:ext cx="1546328" cy="872808"/>
          </a:xfrm>
          <a:prstGeom prst="roundRect">
            <a:avLst/>
          </a:prstGeom>
          <a:solidFill>
            <a:srgbClr val="D17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Opportunités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6DDCA22-F508-9778-24EC-9678E21208FD}"/>
              </a:ext>
            </a:extLst>
          </p:cNvPr>
          <p:cNvCxnSpPr>
            <a:stCxn id="4" idx="0"/>
            <a:endCxn id="7" idx="2"/>
          </p:cNvCxnSpPr>
          <p:nvPr/>
        </p:nvCxnSpPr>
        <p:spPr>
          <a:xfrm flipH="1" flipV="1">
            <a:off x="8431795" y="2314214"/>
            <a:ext cx="1" cy="56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3CF2C2F1-9B24-A8FE-F193-02EA654A234C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9469120" y="3931508"/>
            <a:ext cx="550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2CAD43A0-1163-4030-71FB-0E5E19B1B93E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8431795" y="4987756"/>
            <a:ext cx="1" cy="56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2C1D67-655D-4100-6AA4-5ED0D59F617A}"/>
              </a:ext>
            </a:extLst>
          </p:cNvPr>
          <p:cNvCxnSpPr>
            <a:stCxn id="4" idx="1"/>
            <a:endCxn id="11" idx="3"/>
          </p:cNvCxnSpPr>
          <p:nvPr/>
        </p:nvCxnSpPr>
        <p:spPr>
          <a:xfrm flipH="1">
            <a:off x="6839577" y="3931508"/>
            <a:ext cx="5548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A9A77AF8-5C20-F8C4-AF1C-EE688DD9921E}"/>
              </a:ext>
            </a:extLst>
          </p:cNvPr>
          <p:cNvSpPr txBox="1"/>
          <p:nvPr/>
        </p:nvSpPr>
        <p:spPr>
          <a:xfrm>
            <a:off x="2573478" y="3078712"/>
            <a:ext cx="1576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Vers une nouvelle aventure</a:t>
            </a:r>
            <a:endParaRPr lang="fr-FR" sz="2400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3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B86416AD-B168-0E20-0FAD-4104903FBDE4}"/>
              </a:ext>
            </a:extLst>
          </p:cNvPr>
          <p:cNvSpPr/>
          <p:nvPr/>
        </p:nvSpPr>
        <p:spPr>
          <a:xfrm>
            <a:off x="4176087" y="-2"/>
            <a:ext cx="5313353" cy="6858000"/>
          </a:xfrm>
          <a:prstGeom prst="homePlate">
            <a:avLst>
              <a:gd name="adj" fmla="val 22875"/>
            </a:avLst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Flèche : pentagone 1">
            <a:extLst>
              <a:ext uri="{FF2B5EF4-FFF2-40B4-BE49-F238E27FC236}">
                <a16:creationId xmlns:a16="http://schemas.microsoft.com/office/drawing/2014/main" id="{5C7BC3B8-473A-69EE-1487-B0C74EAFD76D}"/>
              </a:ext>
            </a:extLst>
          </p:cNvPr>
          <p:cNvSpPr/>
          <p:nvPr/>
        </p:nvSpPr>
        <p:spPr>
          <a:xfrm>
            <a:off x="0" y="0"/>
            <a:ext cx="1818967" cy="6858000"/>
          </a:xfrm>
          <a:prstGeom prst="homePlate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648369-7E64-0311-7149-F4CFFFED0061}"/>
              </a:ext>
            </a:extLst>
          </p:cNvPr>
          <p:cNvSpPr txBox="1"/>
          <p:nvPr/>
        </p:nvSpPr>
        <p:spPr>
          <a:xfrm>
            <a:off x="0" y="3013501"/>
            <a:ext cx="1818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Objectifs du Module</a:t>
            </a:r>
          </a:p>
        </p:txBody>
      </p:sp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DC7170B0-2F54-A162-954A-E2B52BD03994}"/>
              </a:ext>
            </a:extLst>
          </p:cNvPr>
          <p:cNvSpPr/>
          <p:nvPr/>
        </p:nvSpPr>
        <p:spPr>
          <a:xfrm>
            <a:off x="1818967" y="-1"/>
            <a:ext cx="3372793" cy="6858000"/>
          </a:xfrm>
          <a:prstGeom prst="homePlate">
            <a:avLst>
              <a:gd name="adj" fmla="val 27454"/>
            </a:avLst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B52649-E6DA-688C-AE8B-1CA590182844}"/>
              </a:ext>
            </a:extLst>
          </p:cNvPr>
          <p:cNvSpPr txBox="1"/>
          <p:nvPr/>
        </p:nvSpPr>
        <p:spPr>
          <a:xfrm>
            <a:off x="2411355" y="3429000"/>
            <a:ext cx="1818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Comprendre le système universitaire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B204621-25D8-F9C7-3C76-A6C2627CEA4B}"/>
              </a:ext>
            </a:extLst>
          </p:cNvPr>
          <p:cNvSpPr txBox="1"/>
          <p:nvPr/>
        </p:nvSpPr>
        <p:spPr>
          <a:xfrm>
            <a:off x="7010727" y="3886507"/>
            <a:ext cx="21539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fr-FR" dirty="0"/>
              <a:t>Méthodes</a:t>
            </a:r>
          </a:p>
          <a:p>
            <a:r>
              <a:rPr lang="fr-FR" dirty="0"/>
              <a:t>d'apprentissage</a:t>
            </a:r>
          </a:p>
        </p:txBody>
      </p:sp>
      <p:pic>
        <p:nvPicPr>
          <p:cNvPr id="11" name="Image 10" descr="Une image contenant Visage humain, verres, habits, dessin humoristique&#10;&#10;Description générée automatiquement">
            <a:extLst>
              <a:ext uri="{FF2B5EF4-FFF2-40B4-BE49-F238E27FC236}">
                <a16:creationId xmlns:a16="http://schemas.microsoft.com/office/drawing/2014/main" id="{58E942BE-70F8-68CA-A7D1-118ABE63C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669" y="3455626"/>
            <a:ext cx="2057897" cy="1386356"/>
          </a:xfrm>
          <a:prstGeom prst="rect">
            <a:avLst/>
          </a:prstGeom>
        </p:spPr>
      </p:pic>
      <p:pic>
        <p:nvPicPr>
          <p:cNvPr id="12" name="Image 11" descr="Une image contenant vitesse, cercle, objets en métal, transport&#10;&#10;Description générée automatiquement">
            <a:extLst>
              <a:ext uri="{FF2B5EF4-FFF2-40B4-BE49-F238E27FC236}">
                <a16:creationId xmlns:a16="http://schemas.microsoft.com/office/drawing/2014/main" id="{EB31F7ED-3C7C-7B20-0135-38DB56204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319" y="2210681"/>
            <a:ext cx="1365380" cy="1244945"/>
          </a:xfrm>
          <a:prstGeom prst="rect">
            <a:avLst/>
          </a:prstGeom>
        </p:spPr>
      </p:pic>
      <p:pic>
        <p:nvPicPr>
          <p:cNvPr id="14" name="Image 13" descr="Une image contenant logo, symbole, Graphique, conception&#10;&#10;Description générée automatiquement">
            <a:extLst>
              <a:ext uri="{FF2B5EF4-FFF2-40B4-BE49-F238E27FC236}">
                <a16:creationId xmlns:a16="http://schemas.microsoft.com/office/drawing/2014/main" id="{1EEF972B-71BF-431B-0AD4-A1DEBD4EF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855" y="270537"/>
            <a:ext cx="1536289" cy="1536289"/>
          </a:xfrm>
          <a:prstGeom prst="rect">
            <a:avLst/>
          </a:prstGeom>
        </p:spPr>
      </p:pic>
      <p:pic>
        <p:nvPicPr>
          <p:cNvPr id="16" name="Image 15" descr="Une image contenant capture d’écran, conception, clipart, Graphique&#10;&#10;Description générée automatiquement">
            <a:extLst>
              <a:ext uri="{FF2B5EF4-FFF2-40B4-BE49-F238E27FC236}">
                <a16:creationId xmlns:a16="http://schemas.microsoft.com/office/drawing/2014/main" id="{50BBD2D0-93E6-FF17-3EDA-2D56DA14C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474" y="2020996"/>
            <a:ext cx="1536289" cy="1274664"/>
          </a:xfrm>
          <a:prstGeom prst="rect">
            <a:avLst/>
          </a:prstGeom>
        </p:spPr>
      </p:pic>
      <p:pic>
        <p:nvPicPr>
          <p:cNvPr id="18" name="Image 17" descr="Une image contenant Rectangle, symbole, capture d’écran, Police&#10;&#10;Description générée automatiquement">
            <a:extLst>
              <a:ext uri="{FF2B5EF4-FFF2-40B4-BE49-F238E27FC236}">
                <a16:creationId xmlns:a16="http://schemas.microsoft.com/office/drawing/2014/main" id="{FCD152F7-19B1-9105-02AA-0F2C04DA45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4" r="15080"/>
          <a:stretch/>
        </p:blipFill>
        <p:spPr>
          <a:xfrm>
            <a:off x="5210851" y="5006993"/>
            <a:ext cx="1317420" cy="16694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5D9357B-AD09-B2E3-9D98-533D48337ACF}"/>
              </a:ext>
            </a:extLst>
          </p:cNvPr>
          <p:cNvSpPr txBox="1"/>
          <p:nvPr/>
        </p:nvSpPr>
        <p:spPr>
          <a:xfrm>
            <a:off x="6701568" y="744998"/>
            <a:ext cx="2036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Enseignement supérieur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824F204-791F-7DB6-BAE7-39C092F0A538}"/>
              </a:ext>
            </a:extLst>
          </p:cNvPr>
          <p:cNvSpPr txBox="1"/>
          <p:nvPr/>
        </p:nvSpPr>
        <p:spPr>
          <a:xfrm>
            <a:off x="6701568" y="2420220"/>
            <a:ext cx="2036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Ressources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BF5C522-2049-7E4D-F3C2-D228E8EBDE32}"/>
              </a:ext>
            </a:extLst>
          </p:cNvPr>
          <p:cNvSpPr txBox="1"/>
          <p:nvPr/>
        </p:nvSpPr>
        <p:spPr>
          <a:xfrm>
            <a:off x="6547362" y="5875847"/>
            <a:ext cx="2036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Exigences</a:t>
            </a:r>
          </a:p>
        </p:txBody>
      </p:sp>
      <p:pic>
        <p:nvPicPr>
          <p:cNvPr id="23" name="Image 22" descr="Une image contenant dessin, dessin humoristique, art, illustration&#10;&#10;Description générée automatiquement">
            <a:extLst>
              <a:ext uri="{FF2B5EF4-FFF2-40B4-BE49-F238E27FC236}">
                <a16:creationId xmlns:a16="http://schemas.microsoft.com/office/drawing/2014/main" id="{022BC9E1-EAC8-D216-B0BD-095F9B1F82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800" y="1388332"/>
            <a:ext cx="2745155" cy="246888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0CADE8A-AF90-F9D0-2F9C-87C3B5943A30}"/>
              </a:ext>
            </a:extLst>
          </p:cNvPr>
          <p:cNvSpPr txBox="1"/>
          <p:nvPr/>
        </p:nvSpPr>
        <p:spPr>
          <a:xfrm>
            <a:off x="9610416" y="4029164"/>
            <a:ext cx="21539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fr-FR" dirty="0"/>
              <a:t>Renforcer vos compétences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3782017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42B80FF-84ED-D593-013D-50955CF2D644}"/>
              </a:ext>
            </a:extLst>
          </p:cNvPr>
          <p:cNvSpPr/>
          <p:nvPr/>
        </p:nvSpPr>
        <p:spPr>
          <a:xfrm>
            <a:off x="2681468" y="1274180"/>
            <a:ext cx="3298785" cy="20371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Chapitre 1</a:t>
            </a:r>
          </a:p>
          <a:p>
            <a:pPr algn="ctr"/>
            <a:r>
              <a:rPr lang="fr-FR" dirty="0"/>
              <a:t>La vie à l’université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E64E88E-CDC0-6C97-A1EF-047F4855FE74}"/>
              </a:ext>
            </a:extLst>
          </p:cNvPr>
          <p:cNvSpPr/>
          <p:nvPr/>
        </p:nvSpPr>
        <p:spPr>
          <a:xfrm>
            <a:off x="6213676" y="1274179"/>
            <a:ext cx="3298785" cy="20371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Chapitre 2</a:t>
            </a:r>
          </a:p>
          <a:p>
            <a:pPr algn="ctr"/>
            <a:r>
              <a:rPr lang="fr-FR" dirty="0"/>
              <a:t>Les styles d’apprentissage</a:t>
            </a:r>
          </a:p>
          <a:p>
            <a:pPr algn="ctr"/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3A255D3-0580-DDC8-5820-1FE9420A9DA3}"/>
              </a:ext>
            </a:extLst>
          </p:cNvPr>
          <p:cNvSpPr/>
          <p:nvPr/>
        </p:nvSpPr>
        <p:spPr>
          <a:xfrm>
            <a:off x="2681468" y="3567896"/>
            <a:ext cx="3298785" cy="20371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Chapitre 4</a:t>
            </a:r>
          </a:p>
          <a:p>
            <a:pPr algn="ctr"/>
            <a:r>
              <a:rPr lang="fr-MA" dirty="0"/>
              <a:t>Les techniques de traitement de l’information</a:t>
            </a:r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139BB94-17A3-7E9E-B7B1-C029D7B23573}"/>
              </a:ext>
            </a:extLst>
          </p:cNvPr>
          <p:cNvSpPr/>
          <p:nvPr/>
        </p:nvSpPr>
        <p:spPr>
          <a:xfrm>
            <a:off x="6213676" y="3567896"/>
            <a:ext cx="3298785" cy="20371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Chapitre 3</a:t>
            </a:r>
          </a:p>
          <a:p>
            <a:pPr algn="ctr"/>
            <a:r>
              <a:rPr lang="fr-MA" dirty="0"/>
              <a:t>Les techniques de la recherche de l’information</a:t>
            </a:r>
            <a:endParaRPr lang="fr-FR" dirty="0"/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EC4277FF-1A5A-070F-EA5D-25B436DCA691}"/>
              </a:ext>
            </a:extLst>
          </p:cNvPr>
          <p:cNvSpPr/>
          <p:nvPr/>
        </p:nvSpPr>
        <p:spPr>
          <a:xfrm>
            <a:off x="5346540" y="2787571"/>
            <a:ext cx="1435260" cy="143526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MTU</a:t>
            </a:r>
          </a:p>
        </p:txBody>
      </p:sp>
    </p:spTree>
    <p:extLst>
      <p:ext uri="{BB962C8B-B14F-4D97-AF65-F5344CB8AC3E}">
        <p14:creationId xmlns:p14="http://schemas.microsoft.com/office/powerpoint/2010/main" val="331720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F70C282-F154-28B3-BCDD-5DE654C70938}"/>
              </a:ext>
            </a:extLst>
          </p:cNvPr>
          <p:cNvCxnSpPr>
            <a:stCxn id="29" idx="2"/>
            <a:endCxn id="11" idx="0"/>
          </p:cNvCxnSpPr>
          <p:nvPr/>
        </p:nvCxnSpPr>
        <p:spPr>
          <a:xfrm flipH="1">
            <a:off x="6095999" y="3984030"/>
            <a:ext cx="1" cy="1270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75CCC82-9AF8-90B2-7FB6-B55DAAAE9AA8}"/>
              </a:ext>
            </a:extLst>
          </p:cNvPr>
          <p:cNvCxnSpPr>
            <a:stCxn id="26" idx="2"/>
            <a:endCxn id="25" idx="0"/>
          </p:cNvCxnSpPr>
          <p:nvPr/>
        </p:nvCxnSpPr>
        <p:spPr>
          <a:xfrm>
            <a:off x="1989399" y="3990741"/>
            <a:ext cx="0" cy="1528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D1CDF164-9C64-7EBB-1747-98180FE1149B}"/>
              </a:ext>
            </a:extLst>
          </p:cNvPr>
          <p:cNvCxnSpPr>
            <a:stCxn id="25" idx="3"/>
            <a:endCxn id="11" idx="1"/>
          </p:cNvCxnSpPr>
          <p:nvPr/>
        </p:nvCxnSpPr>
        <p:spPr>
          <a:xfrm flipV="1">
            <a:off x="2726803" y="5733132"/>
            <a:ext cx="150953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27B1C1CA-D1A6-1084-CD89-DFF5A1854A8D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0139907" y="3999844"/>
            <a:ext cx="0" cy="1519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8CDDDDE5-F1BD-59FE-0BC3-BFE1AE694D15}"/>
              </a:ext>
            </a:extLst>
          </p:cNvPr>
          <p:cNvCxnSpPr>
            <a:stCxn id="28" idx="1"/>
            <a:endCxn id="11" idx="3"/>
          </p:cNvCxnSpPr>
          <p:nvPr/>
        </p:nvCxnSpPr>
        <p:spPr>
          <a:xfrm flipH="1" flipV="1">
            <a:off x="7955665" y="5733132"/>
            <a:ext cx="14468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BFE0999-61FC-90B1-0160-A85794286597}"/>
              </a:ext>
            </a:extLst>
          </p:cNvPr>
          <p:cNvSpPr/>
          <p:nvPr/>
        </p:nvSpPr>
        <p:spPr>
          <a:xfrm>
            <a:off x="4404649" y="2094076"/>
            <a:ext cx="3382701" cy="1889954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E54EB4-EC52-4A56-40E8-0A17A3B2CEB3}"/>
              </a:ext>
            </a:extLst>
          </p:cNvPr>
          <p:cNvSpPr/>
          <p:nvPr/>
        </p:nvSpPr>
        <p:spPr>
          <a:xfrm>
            <a:off x="8448556" y="2109890"/>
            <a:ext cx="3382701" cy="1889954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0EB5F2-18A7-40BE-1AB1-F2CE8EFC0CCC}"/>
              </a:ext>
            </a:extLst>
          </p:cNvPr>
          <p:cNvSpPr/>
          <p:nvPr/>
        </p:nvSpPr>
        <p:spPr>
          <a:xfrm>
            <a:off x="298048" y="2100787"/>
            <a:ext cx="3382701" cy="1889954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47F012-D50E-365F-363B-334F567D59C3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4" name="Flèche : chevron 3">
            <a:extLst>
              <a:ext uri="{FF2B5EF4-FFF2-40B4-BE49-F238E27FC236}">
                <a16:creationId xmlns:a16="http://schemas.microsoft.com/office/drawing/2014/main" id="{91D1DB05-FFE0-9030-7976-088D5229E7E0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1896A6D-E018-9876-CB8A-7688820471B9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COMPOSANTES DU SYSTÈME D’ENSEIGNEMENT SUPÉRIEUR MAROCAIN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73B122B-AC8F-0B69-890A-1E23823C6E1D}"/>
              </a:ext>
            </a:extLst>
          </p:cNvPr>
          <p:cNvSpPr/>
          <p:nvPr/>
        </p:nvSpPr>
        <p:spPr>
          <a:xfrm>
            <a:off x="36653" y="1886658"/>
            <a:ext cx="3966258" cy="42826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Enseignement supérieur public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9C1F46F-E67A-9B5F-A45C-CC9A1964B929}"/>
              </a:ext>
            </a:extLst>
          </p:cNvPr>
          <p:cNvSpPr/>
          <p:nvPr/>
        </p:nvSpPr>
        <p:spPr>
          <a:xfrm>
            <a:off x="4113835" y="1886656"/>
            <a:ext cx="3966258" cy="42826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Enseignement supérieur privé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6B5714E-D4B7-D980-6DCF-58E2180BBD78}"/>
              </a:ext>
            </a:extLst>
          </p:cNvPr>
          <p:cNvSpPr/>
          <p:nvPr/>
        </p:nvSpPr>
        <p:spPr>
          <a:xfrm>
            <a:off x="8191017" y="1886656"/>
            <a:ext cx="3966258" cy="42826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Enseignement supérieur en partenariat</a:t>
            </a:r>
          </a:p>
        </p:txBody>
      </p:sp>
      <p:pic>
        <p:nvPicPr>
          <p:cNvPr id="11" name="Image 10" descr="Une image contenant Minecraft, dessin humoristique, pixel&#10;&#10;Description générée automatiquement">
            <a:extLst>
              <a:ext uri="{FF2B5EF4-FFF2-40B4-BE49-F238E27FC236}">
                <a16:creationId xmlns:a16="http://schemas.microsoft.com/office/drawing/2014/main" id="{3260F87D-117A-600C-802E-0321042A9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333" y="5254595"/>
            <a:ext cx="3719332" cy="95707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E9A7407-D235-229E-B9E1-69BF299375FA}"/>
              </a:ext>
            </a:extLst>
          </p:cNvPr>
          <p:cNvSpPr txBox="1"/>
          <p:nvPr/>
        </p:nvSpPr>
        <p:spPr>
          <a:xfrm>
            <a:off x="3900186" y="6211669"/>
            <a:ext cx="4391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/>
              <a:t>Ministère de l’Enseignement Supérieur, de</a:t>
            </a:r>
          </a:p>
          <a:p>
            <a:pPr algn="ctr"/>
            <a:r>
              <a:rPr lang="fr-MA" dirty="0"/>
              <a:t>la Recherche scientifique et de l’Innovation</a:t>
            </a:r>
            <a:endParaRPr lang="fr-FR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BE16CAC-4276-C130-F858-2F96995CB754}"/>
              </a:ext>
            </a:extLst>
          </p:cNvPr>
          <p:cNvSpPr/>
          <p:nvPr/>
        </p:nvSpPr>
        <p:spPr>
          <a:xfrm>
            <a:off x="805406" y="2583468"/>
            <a:ext cx="2498203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Université public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3E3209F-839A-A4CF-FB43-33B95B1E37AB}"/>
              </a:ext>
            </a:extLst>
          </p:cNvPr>
          <p:cNvSpPr/>
          <p:nvPr/>
        </p:nvSpPr>
        <p:spPr>
          <a:xfrm>
            <a:off x="805406" y="3246692"/>
            <a:ext cx="2498203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Autres établissements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9FCAAD9-CBA7-6025-D3BD-1E49500799CB}"/>
              </a:ext>
            </a:extLst>
          </p:cNvPr>
          <p:cNvSpPr/>
          <p:nvPr/>
        </p:nvSpPr>
        <p:spPr>
          <a:xfrm>
            <a:off x="4731153" y="2583468"/>
            <a:ext cx="2498203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Université privé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FD6D525-969E-CE7D-5D59-9E36936E0576}"/>
              </a:ext>
            </a:extLst>
          </p:cNvPr>
          <p:cNvSpPr/>
          <p:nvPr/>
        </p:nvSpPr>
        <p:spPr>
          <a:xfrm>
            <a:off x="4731153" y="3246692"/>
            <a:ext cx="2498203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Etablissements privés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68B09B0-DE48-2C12-5A5C-DD636EFF7915}"/>
              </a:ext>
            </a:extLst>
          </p:cNvPr>
          <p:cNvGrpSpPr/>
          <p:nvPr/>
        </p:nvGrpSpPr>
        <p:grpSpPr>
          <a:xfrm>
            <a:off x="9375493" y="2393472"/>
            <a:ext cx="1779607" cy="1606372"/>
            <a:chOff x="7955665" y="1461176"/>
            <a:chExt cx="7124700" cy="6024980"/>
          </a:xfrm>
        </p:grpSpPr>
        <p:pic>
          <p:nvPicPr>
            <p:cNvPr id="23" name="Image 22" descr="Une image contenant cercle, Graphique, art&#10;&#10;Description générée automatiquement">
              <a:extLst>
                <a:ext uri="{FF2B5EF4-FFF2-40B4-BE49-F238E27FC236}">
                  <a16:creationId xmlns:a16="http://schemas.microsoft.com/office/drawing/2014/main" id="{85026A9C-D6D0-C5D1-789D-2BA7FE547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5665" y="1461176"/>
              <a:ext cx="7124700" cy="5676900"/>
            </a:xfrm>
            <a:prstGeom prst="rect">
              <a:avLst/>
            </a:prstGeom>
          </p:spPr>
        </p:pic>
        <p:pic>
          <p:nvPicPr>
            <p:cNvPr id="21" name="Image 20" descr="Une image contenant clipart, dessin humoristique, art, illustration&#10;&#10;Description générée automatiquement">
              <a:extLst>
                <a:ext uri="{FF2B5EF4-FFF2-40B4-BE49-F238E27FC236}">
                  <a16:creationId xmlns:a16="http://schemas.microsoft.com/office/drawing/2014/main" id="{F724E382-B351-ECE0-8AA2-A10E49CBA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127" y="2095006"/>
              <a:ext cx="5391150" cy="5391150"/>
            </a:xfrm>
            <a:prstGeom prst="rect">
              <a:avLst/>
            </a:prstGeom>
          </p:spPr>
        </p:pic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B7DE434-2392-C64C-3629-BE8FC8D07E81}"/>
              </a:ext>
            </a:extLst>
          </p:cNvPr>
          <p:cNvSpPr/>
          <p:nvPr/>
        </p:nvSpPr>
        <p:spPr>
          <a:xfrm>
            <a:off x="1251994" y="5519001"/>
            <a:ext cx="1474809" cy="42826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Autorité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3F74DCF-3B73-990A-019F-01472DF1A8F8}"/>
              </a:ext>
            </a:extLst>
          </p:cNvPr>
          <p:cNvSpPr/>
          <p:nvPr/>
        </p:nvSpPr>
        <p:spPr>
          <a:xfrm>
            <a:off x="5358595" y="4512841"/>
            <a:ext cx="1474809" cy="42826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Control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9A02C7A-C084-7B0A-0089-F9E0BA32FCFD}"/>
              </a:ext>
            </a:extLst>
          </p:cNvPr>
          <p:cNvSpPr/>
          <p:nvPr/>
        </p:nvSpPr>
        <p:spPr>
          <a:xfrm>
            <a:off x="9402502" y="5519001"/>
            <a:ext cx="1474809" cy="42826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5886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26" grpId="0" animBg="1"/>
      <p:bldP spid="7" grpId="0" animBg="1"/>
      <p:bldP spid="8" grpId="0" animBg="1"/>
      <p:bldP spid="9" grpId="0" animBg="1"/>
      <p:bldP spid="13" grpId="0"/>
      <p:bldP spid="14" grpId="0" animBg="1"/>
      <p:bldP spid="15" grpId="0" animBg="1"/>
      <p:bldP spid="16" grpId="0" animBg="1"/>
      <p:bldP spid="17" grpId="0" animBg="1"/>
      <p:bldP spid="25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C74DB59-FF97-3D54-F143-0097BF56F519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7810557E-A2A5-7202-49FA-240287698B3A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C6C933-D208-E9AD-9778-F6687F5A808C}"/>
              </a:ext>
            </a:extLst>
          </p:cNvPr>
          <p:cNvSpPr txBox="1"/>
          <p:nvPr/>
        </p:nvSpPr>
        <p:spPr>
          <a:xfrm>
            <a:off x="3048965" y="2151727"/>
            <a:ext cx="60940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0" dirty="0">
                <a:solidFill>
                  <a:schemeClr val="tx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Université public</a:t>
            </a:r>
          </a:p>
        </p:txBody>
      </p:sp>
    </p:spTree>
    <p:extLst>
      <p:ext uri="{BB962C8B-B14F-4D97-AF65-F5344CB8AC3E}">
        <p14:creationId xmlns:p14="http://schemas.microsoft.com/office/powerpoint/2010/main" val="234722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8FFD9E8-42E6-AF81-BA99-01B7949D9008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921769CE-92B1-27C1-FA6A-7570B894D429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D0F5C7-6C9D-07C8-AFA3-585D12EDF9F3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DE L’UNIVERSITÉ MAROCAINE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5" descr="Une image contenant logo, symbole, Graphique, conception&#10;&#10;Description générée automatiquement">
            <a:extLst>
              <a:ext uri="{FF2B5EF4-FFF2-40B4-BE49-F238E27FC236}">
                <a16:creationId xmlns:a16="http://schemas.microsoft.com/office/drawing/2014/main" id="{20DCEC96-7318-CBD2-4079-FBAA62BDC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76" y="1827353"/>
            <a:ext cx="1601647" cy="1601647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7D3DE1F-3232-04C5-4D01-A266715939A0}"/>
              </a:ext>
            </a:extLst>
          </p:cNvPr>
          <p:cNvSpPr/>
          <p:nvPr/>
        </p:nvSpPr>
        <p:spPr>
          <a:xfrm>
            <a:off x="5150251" y="3479429"/>
            <a:ext cx="1891495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Présidence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3FA2CBC-FEF1-EB01-3F8A-4D8B6963E16C}"/>
              </a:ext>
            </a:extLst>
          </p:cNvPr>
          <p:cNvSpPr/>
          <p:nvPr/>
        </p:nvSpPr>
        <p:spPr>
          <a:xfrm>
            <a:off x="1891979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Facultés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638875D-9BF2-A039-60F6-E19FC41BED4C}"/>
              </a:ext>
            </a:extLst>
          </p:cNvPr>
          <p:cNvSpPr/>
          <p:nvPr/>
        </p:nvSpPr>
        <p:spPr>
          <a:xfrm>
            <a:off x="5053797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Ecoles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42DCD2-33B1-21F0-E2D8-75222C0D732F}"/>
              </a:ext>
            </a:extLst>
          </p:cNvPr>
          <p:cNvSpPr/>
          <p:nvPr/>
        </p:nvSpPr>
        <p:spPr>
          <a:xfrm>
            <a:off x="8215615" y="4589356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Instituts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A8F0FC-0299-7372-3C15-B2C2E7600558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6095999" y="3907692"/>
            <a:ext cx="1" cy="681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66D5848C-BB38-0077-6463-050740F3ABFE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4174259" y="2667616"/>
            <a:ext cx="681665" cy="31618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6F2FD714-E0FC-EBDE-CBBC-8A4236CEC34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7336076" y="2667614"/>
            <a:ext cx="681664" cy="31618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768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8FFD9E8-42E6-AF81-BA99-01B7949D9008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921769CE-92B1-27C1-FA6A-7570B894D429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D0F5C7-6C9D-07C8-AFA3-585D12EDF9F3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DE L’UNIVERSITÉ MAROCAINE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5" descr="Une image contenant logo, symbole, Graphique, conception&#10;&#10;Description générée automatiquement">
            <a:extLst>
              <a:ext uri="{FF2B5EF4-FFF2-40B4-BE49-F238E27FC236}">
                <a16:creationId xmlns:a16="http://schemas.microsoft.com/office/drawing/2014/main" id="{20DCEC96-7318-CBD2-4079-FBAA62BDC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92" y="1847425"/>
            <a:ext cx="1601647" cy="1601647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7D3DE1F-3232-04C5-4D01-A266715939A0}"/>
              </a:ext>
            </a:extLst>
          </p:cNvPr>
          <p:cNvSpPr/>
          <p:nvPr/>
        </p:nvSpPr>
        <p:spPr>
          <a:xfrm>
            <a:off x="2441767" y="3499501"/>
            <a:ext cx="1891495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Présidence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3FA2CBC-FEF1-EB01-3F8A-4D8B6963E16C}"/>
              </a:ext>
            </a:extLst>
          </p:cNvPr>
          <p:cNvSpPr/>
          <p:nvPr/>
        </p:nvSpPr>
        <p:spPr>
          <a:xfrm>
            <a:off x="109471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Facultés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638875D-9BF2-A039-60F6-E19FC41BED4C}"/>
              </a:ext>
            </a:extLst>
          </p:cNvPr>
          <p:cNvSpPr/>
          <p:nvPr/>
        </p:nvSpPr>
        <p:spPr>
          <a:xfrm>
            <a:off x="2345312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Ecoles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42DCD2-33B1-21F0-E2D8-75222C0D732F}"/>
              </a:ext>
            </a:extLst>
          </p:cNvPr>
          <p:cNvSpPr/>
          <p:nvPr/>
        </p:nvSpPr>
        <p:spPr>
          <a:xfrm>
            <a:off x="4581153" y="4589356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Instituts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A8F0FC-0299-7372-3C15-B2C2E7600558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3387515" y="3927764"/>
            <a:ext cx="0" cy="661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66D5848C-BB38-0077-6463-050740F3ABFE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938799" y="3140640"/>
            <a:ext cx="661593" cy="22358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6F2FD714-E0FC-EBDE-CBBC-8A4236CEC34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4174639" y="3140639"/>
            <a:ext cx="661592" cy="22358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DFA6DEC-65FD-23FA-ACC8-A32BB52818E8}"/>
              </a:ext>
            </a:extLst>
          </p:cNvPr>
          <p:cNvCxnSpPr/>
          <p:nvPr/>
        </p:nvCxnSpPr>
        <p:spPr>
          <a:xfrm>
            <a:off x="6991109" y="2083443"/>
            <a:ext cx="0" cy="3472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762D6EA-A7FB-52ED-0128-566FE648230F}"/>
              </a:ext>
            </a:extLst>
          </p:cNvPr>
          <p:cNvSpPr txBox="1"/>
          <p:nvPr/>
        </p:nvSpPr>
        <p:spPr>
          <a:xfrm>
            <a:off x="7191974" y="3155160"/>
            <a:ext cx="4577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4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Exercice : Citez les établissements de l’Université Chouaib Doukkali</a:t>
            </a:r>
            <a:endParaRPr lang="fr-F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6DF2D09-F31A-2C71-A320-09DC824D9725}"/>
              </a:ext>
            </a:extLst>
          </p:cNvPr>
          <p:cNvSpPr txBox="1"/>
          <p:nvPr/>
        </p:nvSpPr>
        <p:spPr>
          <a:xfrm>
            <a:off x="7191974" y="4030888"/>
            <a:ext cx="4577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4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www.ucd.ac.ma</a:t>
            </a:r>
            <a:endParaRPr lang="fr-F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49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8FFD9E8-42E6-AF81-BA99-01B7949D9008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921769CE-92B1-27C1-FA6A-7570B894D429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D0F5C7-6C9D-07C8-AFA3-585D12EDF9F3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DE L’UNIVERSITÉ MAROCAINE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5" descr="Une image contenant logo, symbole, Graphique, conception&#10;&#10;Description générée automatiquement">
            <a:extLst>
              <a:ext uri="{FF2B5EF4-FFF2-40B4-BE49-F238E27FC236}">
                <a16:creationId xmlns:a16="http://schemas.microsoft.com/office/drawing/2014/main" id="{20DCEC96-7318-CBD2-4079-FBAA62BDC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76" y="1827353"/>
            <a:ext cx="1601647" cy="1601647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7D3DE1F-3232-04C5-4D01-A266715939A0}"/>
              </a:ext>
            </a:extLst>
          </p:cNvPr>
          <p:cNvSpPr/>
          <p:nvPr/>
        </p:nvSpPr>
        <p:spPr>
          <a:xfrm>
            <a:off x="5150251" y="3479429"/>
            <a:ext cx="1891495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Présidence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3FA2CBC-FEF1-EB01-3F8A-4D8B6963E16C}"/>
              </a:ext>
            </a:extLst>
          </p:cNvPr>
          <p:cNvSpPr/>
          <p:nvPr/>
        </p:nvSpPr>
        <p:spPr>
          <a:xfrm>
            <a:off x="1891979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Facultés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638875D-9BF2-A039-60F6-E19FC41BED4C}"/>
              </a:ext>
            </a:extLst>
          </p:cNvPr>
          <p:cNvSpPr/>
          <p:nvPr/>
        </p:nvSpPr>
        <p:spPr>
          <a:xfrm>
            <a:off x="5053797" y="4589357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Ecoles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42DCD2-33B1-21F0-E2D8-75222C0D732F}"/>
              </a:ext>
            </a:extLst>
          </p:cNvPr>
          <p:cNvSpPr/>
          <p:nvPr/>
        </p:nvSpPr>
        <p:spPr>
          <a:xfrm>
            <a:off x="8215615" y="4589356"/>
            <a:ext cx="2084406" cy="428263"/>
          </a:xfrm>
          <a:prstGeom prst="roundRect">
            <a:avLst/>
          </a:prstGeom>
          <a:solidFill>
            <a:srgbClr val="CC6F6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Instituts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A8F0FC-0299-7372-3C15-B2C2E7600558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6095999" y="3907692"/>
            <a:ext cx="1" cy="681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66D5848C-BB38-0077-6463-050740F3ABFE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4174259" y="2667616"/>
            <a:ext cx="681665" cy="31618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6F2FD714-E0FC-EBDE-CBBC-8A4236CEC34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7336076" y="2667614"/>
            <a:ext cx="681664" cy="31618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BE26731-AE8C-27F6-2056-7C75CD0DDB1F}"/>
              </a:ext>
            </a:extLst>
          </p:cNvPr>
          <p:cNvSpPr/>
          <p:nvPr/>
        </p:nvSpPr>
        <p:spPr>
          <a:xfrm>
            <a:off x="1891979" y="5092656"/>
            <a:ext cx="2084406" cy="6066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Doyen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15A7868-EDF2-DADC-05AD-8811B47D120E}"/>
              </a:ext>
            </a:extLst>
          </p:cNvPr>
          <p:cNvSpPr/>
          <p:nvPr/>
        </p:nvSpPr>
        <p:spPr>
          <a:xfrm>
            <a:off x="5053795" y="5092656"/>
            <a:ext cx="2084406" cy="6066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Directeur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87BE4AA-267E-9629-C571-612E3932B2E2}"/>
              </a:ext>
            </a:extLst>
          </p:cNvPr>
          <p:cNvSpPr/>
          <p:nvPr/>
        </p:nvSpPr>
        <p:spPr>
          <a:xfrm>
            <a:off x="8215611" y="5092656"/>
            <a:ext cx="2084406" cy="6066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Directeur</a:t>
            </a:r>
          </a:p>
        </p:txBody>
      </p:sp>
    </p:spTree>
    <p:extLst>
      <p:ext uri="{BB962C8B-B14F-4D97-AF65-F5344CB8AC3E}">
        <p14:creationId xmlns:p14="http://schemas.microsoft.com/office/powerpoint/2010/main" val="2873593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A8E1EB3-A5E3-83A1-8FEE-4340B209317E}"/>
              </a:ext>
            </a:extLst>
          </p:cNvPr>
          <p:cNvSpPr/>
          <p:nvPr/>
        </p:nvSpPr>
        <p:spPr>
          <a:xfrm>
            <a:off x="4519674" y="2290237"/>
            <a:ext cx="3152652" cy="42826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Doyen ou Directeur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BF6D5BE-C8CB-CDD9-6E68-BD6CD51FBF1C}"/>
              </a:ext>
            </a:extLst>
          </p:cNvPr>
          <p:cNvSpPr/>
          <p:nvPr/>
        </p:nvSpPr>
        <p:spPr>
          <a:xfrm>
            <a:off x="205448" y="3266342"/>
            <a:ext cx="2818917" cy="1452628"/>
          </a:xfrm>
          <a:prstGeom prst="roundRect">
            <a:avLst/>
          </a:prstGeom>
          <a:solidFill>
            <a:srgbClr val="D78D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Vise Doyen/sous-directeur</a:t>
            </a:r>
          </a:p>
          <a:p>
            <a:pPr algn="ctr"/>
            <a:r>
              <a:rPr lang="fr-FR" sz="2000" dirty="0"/>
              <a:t>Chargé de la formation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0130113-9027-CCB0-63F7-DE95F818F86E}"/>
              </a:ext>
            </a:extLst>
          </p:cNvPr>
          <p:cNvSpPr/>
          <p:nvPr/>
        </p:nvSpPr>
        <p:spPr>
          <a:xfrm>
            <a:off x="3197382" y="3266342"/>
            <a:ext cx="2818917" cy="1452628"/>
          </a:xfrm>
          <a:prstGeom prst="roundRect">
            <a:avLst/>
          </a:prstGeom>
          <a:solidFill>
            <a:srgbClr val="D78D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Vise Doyen/sous-directeur</a:t>
            </a:r>
          </a:p>
          <a:p>
            <a:pPr algn="ctr"/>
            <a:r>
              <a:rPr lang="fr-FR" sz="2000" dirty="0"/>
              <a:t>Chargé de la recherche et la coopération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5C919DD-9E9E-1F38-0F4E-6E14D772CD50}"/>
              </a:ext>
            </a:extLst>
          </p:cNvPr>
          <p:cNvSpPr/>
          <p:nvPr/>
        </p:nvSpPr>
        <p:spPr>
          <a:xfrm>
            <a:off x="6189202" y="3266342"/>
            <a:ext cx="2818917" cy="1452628"/>
          </a:xfrm>
          <a:prstGeom prst="roundRect">
            <a:avLst/>
          </a:prstGeom>
          <a:solidFill>
            <a:srgbClr val="D78D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Division des affaires administratives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499D9DF5-F73E-7E43-BF53-49D9AF33CEB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3581533" y="751875"/>
            <a:ext cx="547842" cy="44810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8E783D81-DE7D-8737-94C5-34CF41C87702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rot="16200000" flipH="1">
            <a:off x="6573409" y="2241090"/>
            <a:ext cx="547842" cy="15026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6D87F9B-AC26-BD60-B574-C1A0CEE493F0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19" name="Flèche : chevron 18">
            <a:extLst>
              <a:ext uri="{FF2B5EF4-FFF2-40B4-BE49-F238E27FC236}">
                <a16:creationId xmlns:a16="http://schemas.microsoft.com/office/drawing/2014/main" id="{CC9063AD-41CC-31DB-A2D5-71768816CEFF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332BF46-9BD9-5BAB-B121-2855DAB1C121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ADMINISTRATIVE DES ÉTABLISSEMENTS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24ACA53-8323-94CF-A091-7F26A1508B20}"/>
              </a:ext>
            </a:extLst>
          </p:cNvPr>
          <p:cNvSpPr/>
          <p:nvPr/>
        </p:nvSpPr>
        <p:spPr>
          <a:xfrm>
            <a:off x="572704" y="4899849"/>
            <a:ext cx="2084406" cy="6066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 scolarité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1E43EBD-2C10-B72C-2F65-844FA04595D7}"/>
              </a:ext>
            </a:extLst>
          </p:cNvPr>
          <p:cNvSpPr/>
          <p:nvPr/>
        </p:nvSpPr>
        <p:spPr>
          <a:xfrm>
            <a:off x="4519674" y="1671869"/>
            <a:ext cx="3152652" cy="4282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Etablissement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141B1AB1-094E-52DC-DA19-C7C4A7516BF6}"/>
              </a:ext>
            </a:extLst>
          </p:cNvPr>
          <p:cNvSpPr/>
          <p:nvPr/>
        </p:nvSpPr>
        <p:spPr>
          <a:xfrm>
            <a:off x="9181022" y="3266342"/>
            <a:ext cx="2818917" cy="1452628"/>
          </a:xfrm>
          <a:prstGeom prst="roundRect">
            <a:avLst/>
          </a:prstGeom>
          <a:solidFill>
            <a:srgbClr val="D78D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Départements</a:t>
            </a:r>
          </a:p>
        </p:txBody>
      </p: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684002E2-64B1-B5A7-F9B9-C5821F43608E}"/>
              </a:ext>
            </a:extLst>
          </p:cNvPr>
          <p:cNvCxnSpPr>
            <a:stCxn id="11" idx="2"/>
            <a:endCxn id="43" idx="0"/>
          </p:cNvCxnSpPr>
          <p:nvPr/>
        </p:nvCxnSpPr>
        <p:spPr>
          <a:xfrm rot="16200000" flipH="1">
            <a:off x="8069319" y="745180"/>
            <a:ext cx="547842" cy="449448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 : en angle 48">
            <a:extLst>
              <a:ext uri="{FF2B5EF4-FFF2-40B4-BE49-F238E27FC236}">
                <a16:creationId xmlns:a16="http://schemas.microsoft.com/office/drawing/2014/main" id="{BF7AC01B-0C37-5D5D-A5B8-1146997D596C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rot="5400000">
            <a:off x="5077500" y="2247842"/>
            <a:ext cx="547842" cy="148915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25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5F60AB07-93B7-184A-F234-F40E438178A8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10" name="Flèche : chevron 9">
            <a:extLst>
              <a:ext uri="{FF2B5EF4-FFF2-40B4-BE49-F238E27FC236}">
                <a16:creationId xmlns:a16="http://schemas.microsoft.com/office/drawing/2014/main" id="{80ACB399-036D-28EC-5AEE-7249129D0E73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93FF8F6-1031-2A58-E39B-8EC03C9ED2D4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F07FC22D-BFF9-6145-A95B-A9D568099692}"/>
              </a:ext>
            </a:extLst>
          </p:cNvPr>
          <p:cNvSpPr/>
          <p:nvPr/>
        </p:nvSpPr>
        <p:spPr>
          <a:xfrm>
            <a:off x="1122743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Cycle</a:t>
            </a:r>
          </a:p>
        </p:txBody>
      </p:sp>
      <p:sp>
        <p:nvSpPr>
          <p:cNvPr id="15" name="Flèche : pentagone 14">
            <a:extLst>
              <a:ext uri="{FF2B5EF4-FFF2-40B4-BE49-F238E27FC236}">
                <a16:creationId xmlns:a16="http://schemas.microsoft.com/office/drawing/2014/main" id="{3486BFF8-1687-C9D8-A9F9-6C20438C162A}"/>
              </a:ext>
            </a:extLst>
          </p:cNvPr>
          <p:cNvSpPr/>
          <p:nvPr/>
        </p:nvSpPr>
        <p:spPr>
          <a:xfrm>
            <a:off x="4550777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Filière</a:t>
            </a:r>
          </a:p>
        </p:txBody>
      </p:sp>
      <p:sp>
        <p:nvSpPr>
          <p:cNvPr id="16" name="Flèche : pentagone 15">
            <a:extLst>
              <a:ext uri="{FF2B5EF4-FFF2-40B4-BE49-F238E27FC236}">
                <a16:creationId xmlns:a16="http://schemas.microsoft.com/office/drawing/2014/main" id="{2FE0679A-4505-F061-EAAB-72EAA48C2A3C}"/>
              </a:ext>
            </a:extLst>
          </p:cNvPr>
          <p:cNvSpPr/>
          <p:nvPr/>
        </p:nvSpPr>
        <p:spPr>
          <a:xfrm>
            <a:off x="7978811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Module</a:t>
            </a:r>
          </a:p>
        </p:txBody>
      </p:sp>
    </p:spTree>
    <p:extLst>
      <p:ext uri="{BB962C8B-B14F-4D97-AF65-F5344CB8AC3E}">
        <p14:creationId xmlns:p14="http://schemas.microsoft.com/office/powerpoint/2010/main" val="3932630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1964D8-2271-38E9-CB5E-1599FE8CDADD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122A1D6A-AB17-FA13-47A1-16BB355250BA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C7D8DE-2F9A-1303-4FED-5EB4B9F5BB2F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8266B94-E0D5-28B3-C5B7-007A2B7651EF}"/>
              </a:ext>
            </a:extLst>
          </p:cNvPr>
          <p:cNvSpPr/>
          <p:nvPr/>
        </p:nvSpPr>
        <p:spPr>
          <a:xfrm>
            <a:off x="277788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Cycle</a:t>
            </a: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EDF7E6D4-DA19-E06F-C91D-AE32FF6B8AB6}"/>
              </a:ext>
            </a:extLst>
          </p:cNvPr>
          <p:cNvSpPr/>
          <p:nvPr/>
        </p:nvSpPr>
        <p:spPr>
          <a:xfrm>
            <a:off x="3549570" y="2871104"/>
            <a:ext cx="2108521" cy="369332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3 ans</a:t>
            </a:r>
          </a:p>
        </p:txBody>
      </p:sp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id="{9A7EFE66-A02A-4440-584E-BBFEE957329D}"/>
              </a:ext>
            </a:extLst>
          </p:cNvPr>
          <p:cNvSpPr/>
          <p:nvPr/>
        </p:nvSpPr>
        <p:spPr>
          <a:xfrm>
            <a:off x="5817244" y="2871104"/>
            <a:ext cx="1584000" cy="369332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2 ans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E0962-8E03-4A8D-B10B-A81EA9BA8720}"/>
              </a:ext>
            </a:extLst>
          </p:cNvPr>
          <p:cNvSpPr/>
          <p:nvPr/>
        </p:nvSpPr>
        <p:spPr>
          <a:xfrm>
            <a:off x="7560397" y="2871103"/>
            <a:ext cx="422379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3 à 6 ans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6839217-6967-DCA5-65EC-41EAB889ADD2}"/>
              </a:ext>
            </a:extLst>
          </p:cNvPr>
          <p:cNvSpPr txBox="1"/>
          <p:nvPr/>
        </p:nvSpPr>
        <p:spPr>
          <a:xfrm>
            <a:off x="3824465" y="4913513"/>
            <a:ext cx="1235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icence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C555B76-2BEC-3C60-BBF9-C4D5FB6EE4C3}"/>
              </a:ext>
            </a:extLst>
          </p:cNvPr>
          <p:cNvSpPr txBox="1"/>
          <p:nvPr/>
        </p:nvSpPr>
        <p:spPr>
          <a:xfrm>
            <a:off x="5832471" y="4913512"/>
            <a:ext cx="1235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aster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F9738E2-7BBE-37D7-0626-F3290BF77B9A}"/>
              </a:ext>
            </a:extLst>
          </p:cNvPr>
          <p:cNvSpPr txBox="1"/>
          <p:nvPr/>
        </p:nvSpPr>
        <p:spPr>
          <a:xfrm>
            <a:off x="8829550" y="4913511"/>
            <a:ext cx="1412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octorat</a:t>
            </a:r>
          </a:p>
        </p:txBody>
      </p:sp>
      <p:pic>
        <p:nvPicPr>
          <p:cNvPr id="21" name="Image 20" descr="Une image contenant logo, Graphique, cercle, graphisme&#10;&#10;Description générée automatiquement">
            <a:extLst>
              <a:ext uri="{FF2B5EF4-FFF2-40B4-BE49-F238E27FC236}">
                <a16:creationId xmlns:a16="http://schemas.microsoft.com/office/drawing/2014/main" id="{B4C37B74-CA88-88EB-17BA-108863889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47" y="3237283"/>
            <a:ext cx="1788047" cy="1781924"/>
          </a:xfrm>
          <a:prstGeom prst="rect">
            <a:avLst/>
          </a:prstGeom>
        </p:spPr>
      </p:pic>
      <p:pic>
        <p:nvPicPr>
          <p:cNvPr id="23" name="Image 22" descr="Une image contenant haut-parleur, mégaphone&#10;&#10;Description générée automatiquement">
            <a:extLst>
              <a:ext uri="{FF2B5EF4-FFF2-40B4-BE49-F238E27FC236}">
                <a16:creationId xmlns:a16="http://schemas.microsoft.com/office/drawing/2014/main" id="{ECE027AD-7C53-63A9-454B-B0059BCBA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241" y="3232179"/>
            <a:ext cx="1788047" cy="1781924"/>
          </a:xfrm>
          <a:prstGeom prst="rect">
            <a:avLst/>
          </a:prstGeom>
        </p:spPr>
      </p:pic>
      <p:pic>
        <p:nvPicPr>
          <p:cNvPr id="25" name="Image 24" descr="Une image contenant symbole, Graphique, conception, logo&#10;&#10;Description générée automatiquement">
            <a:extLst>
              <a:ext uri="{FF2B5EF4-FFF2-40B4-BE49-F238E27FC236}">
                <a16:creationId xmlns:a16="http://schemas.microsoft.com/office/drawing/2014/main" id="{0101839C-70A2-1519-93B5-3032FB0EA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962" y="3240435"/>
            <a:ext cx="1788047" cy="178192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2D710AE-68F4-9098-184E-657014300458}"/>
              </a:ext>
            </a:extLst>
          </p:cNvPr>
          <p:cNvSpPr txBox="1"/>
          <p:nvPr/>
        </p:nvSpPr>
        <p:spPr>
          <a:xfrm>
            <a:off x="5232806" y="5852991"/>
            <a:ext cx="2434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Système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LMD</a:t>
            </a:r>
          </a:p>
        </p:txBody>
      </p:sp>
    </p:spTree>
    <p:extLst>
      <p:ext uri="{BB962C8B-B14F-4D97-AF65-F5344CB8AC3E}">
        <p14:creationId xmlns:p14="http://schemas.microsoft.com/office/powerpoint/2010/main" val="3263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1964D8-2271-38E9-CB5E-1599FE8CDADD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122A1D6A-AB17-FA13-47A1-16BB355250BA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C7D8DE-2F9A-1303-4FED-5EB4B9F5BB2F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8266B94-E0D5-28B3-C5B7-007A2B7651EF}"/>
              </a:ext>
            </a:extLst>
          </p:cNvPr>
          <p:cNvSpPr/>
          <p:nvPr/>
        </p:nvSpPr>
        <p:spPr>
          <a:xfrm>
            <a:off x="277788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Filière</a:t>
            </a:r>
          </a:p>
        </p:txBody>
      </p:sp>
      <p:sp>
        <p:nvSpPr>
          <p:cNvPr id="26" name="Flèche : pentagone 25">
            <a:extLst>
              <a:ext uri="{FF2B5EF4-FFF2-40B4-BE49-F238E27FC236}">
                <a16:creationId xmlns:a16="http://schemas.microsoft.com/office/drawing/2014/main" id="{DC8A1CD8-902C-8127-5604-4278FD6DF8E9}"/>
              </a:ext>
            </a:extLst>
          </p:cNvPr>
          <p:cNvSpPr/>
          <p:nvPr/>
        </p:nvSpPr>
        <p:spPr>
          <a:xfrm>
            <a:off x="3561145" y="2663236"/>
            <a:ext cx="7560000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Semestres</a:t>
            </a:r>
          </a:p>
        </p:txBody>
      </p:sp>
      <p:sp>
        <p:nvSpPr>
          <p:cNvPr id="28" name="Flèche : pentagone 27">
            <a:extLst>
              <a:ext uri="{FF2B5EF4-FFF2-40B4-BE49-F238E27FC236}">
                <a16:creationId xmlns:a16="http://schemas.microsoft.com/office/drawing/2014/main" id="{3420E71B-9546-DD82-B759-7075F8C8E2E3}"/>
              </a:ext>
            </a:extLst>
          </p:cNvPr>
          <p:cNvSpPr/>
          <p:nvPr/>
        </p:nvSpPr>
        <p:spPr>
          <a:xfrm>
            <a:off x="3561145" y="2153954"/>
            <a:ext cx="7562126" cy="369332"/>
          </a:xfrm>
          <a:prstGeom prst="homePlate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3 ans</a:t>
            </a:r>
          </a:p>
        </p:txBody>
      </p:sp>
      <p:sp>
        <p:nvSpPr>
          <p:cNvPr id="29" name="Flèche : pentagone 28">
            <a:extLst>
              <a:ext uri="{FF2B5EF4-FFF2-40B4-BE49-F238E27FC236}">
                <a16:creationId xmlns:a16="http://schemas.microsoft.com/office/drawing/2014/main" id="{50F1D7F1-9D11-3B8D-4521-782AFE1D0854}"/>
              </a:ext>
            </a:extLst>
          </p:cNvPr>
          <p:cNvSpPr/>
          <p:nvPr/>
        </p:nvSpPr>
        <p:spPr>
          <a:xfrm>
            <a:off x="3561144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S1</a:t>
            </a:r>
          </a:p>
        </p:txBody>
      </p:sp>
      <p:sp>
        <p:nvSpPr>
          <p:cNvPr id="30" name="Flèche : pentagone 29">
            <a:extLst>
              <a:ext uri="{FF2B5EF4-FFF2-40B4-BE49-F238E27FC236}">
                <a16:creationId xmlns:a16="http://schemas.microsoft.com/office/drawing/2014/main" id="{BF9EAC6D-B5AF-42D2-E867-989ACD431FCE}"/>
              </a:ext>
            </a:extLst>
          </p:cNvPr>
          <p:cNvSpPr/>
          <p:nvPr/>
        </p:nvSpPr>
        <p:spPr>
          <a:xfrm>
            <a:off x="4893737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S2</a:t>
            </a:r>
          </a:p>
        </p:txBody>
      </p:sp>
      <p:sp>
        <p:nvSpPr>
          <p:cNvPr id="31" name="Flèche : pentagone 30">
            <a:extLst>
              <a:ext uri="{FF2B5EF4-FFF2-40B4-BE49-F238E27FC236}">
                <a16:creationId xmlns:a16="http://schemas.microsoft.com/office/drawing/2014/main" id="{7A8CE3A5-1D01-3ED4-57E3-7BCBB7C03164}"/>
              </a:ext>
            </a:extLst>
          </p:cNvPr>
          <p:cNvSpPr/>
          <p:nvPr/>
        </p:nvSpPr>
        <p:spPr>
          <a:xfrm>
            <a:off x="6226330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S3</a:t>
            </a:r>
          </a:p>
        </p:txBody>
      </p:sp>
      <p:sp>
        <p:nvSpPr>
          <p:cNvPr id="32" name="Flèche : pentagone 31">
            <a:extLst>
              <a:ext uri="{FF2B5EF4-FFF2-40B4-BE49-F238E27FC236}">
                <a16:creationId xmlns:a16="http://schemas.microsoft.com/office/drawing/2014/main" id="{EC100D35-28FC-CA3A-C83C-6DC55540D629}"/>
              </a:ext>
            </a:extLst>
          </p:cNvPr>
          <p:cNvSpPr/>
          <p:nvPr/>
        </p:nvSpPr>
        <p:spPr>
          <a:xfrm>
            <a:off x="7558923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S4</a:t>
            </a:r>
          </a:p>
        </p:txBody>
      </p:sp>
      <p:sp>
        <p:nvSpPr>
          <p:cNvPr id="33" name="Flèche : pentagone 32">
            <a:extLst>
              <a:ext uri="{FF2B5EF4-FFF2-40B4-BE49-F238E27FC236}">
                <a16:creationId xmlns:a16="http://schemas.microsoft.com/office/drawing/2014/main" id="{A73AEF19-DB6D-2266-7445-EA3837E931E4}"/>
              </a:ext>
            </a:extLst>
          </p:cNvPr>
          <p:cNvSpPr/>
          <p:nvPr/>
        </p:nvSpPr>
        <p:spPr>
          <a:xfrm>
            <a:off x="8891516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S5</a:t>
            </a:r>
          </a:p>
        </p:txBody>
      </p:sp>
      <p:sp>
        <p:nvSpPr>
          <p:cNvPr id="34" name="Flèche : pentagone 33">
            <a:extLst>
              <a:ext uri="{FF2B5EF4-FFF2-40B4-BE49-F238E27FC236}">
                <a16:creationId xmlns:a16="http://schemas.microsoft.com/office/drawing/2014/main" id="{72FB9D66-A3FF-175F-5086-1044DBF05477}"/>
              </a:ext>
            </a:extLst>
          </p:cNvPr>
          <p:cNvSpPr/>
          <p:nvPr/>
        </p:nvSpPr>
        <p:spPr>
          <a:xfrm>
            <a:off x="10224111" y="3393492"/>
            <a:ext cx="897034" cy="590304"/>
          </a:xfrm>
          <a:prstGeom prst="homePlate">
            <a:avLst>
              <a:gd name="adj" fmla="val 0"/>
            </a:avLst>
          </a:prstGeom>
          <a:solidFill>
            <a:srgbClr val="D78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S6</a:t>
            </a:r>
          </a:p>
        </p:txBody>
      </p:sp>
      <p:pic>
        <p:nvPicPr>
          <p:cNvPr id="36" name="Image 35" descr="Une image contenant habits, verres, clipart, dessin humoristique&#10;&#10;Description générée automatiquement">
            <a:extLst>
              <a:ext uri="{FF2B5EF4-FFF2-40B4-BE49-F238E27FC236}">
                <a16:creationId xmlns:a16="http://schemas.microsoft.com/office/drawing/2014/main" id="{966D33C9-9F24-823E-044F-8FC563375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54" y="4353986"/>
            <a:ext cx="2024273" cy="1673547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7893A40A-5A43-8BF0-94E0-470BA4EA787D}"/>
              </a:ext>
            </a:extLst>
          </p:cNvPr>
          <p:cNvSpPr txBox="1"/>
          <p:nvPr/>
        </p:nvSpPr>
        <p:spPr>
          <a:xfrm>
            <a:off x="3114480" y="5934670"/>
            <a:ext cx="2279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>
                <a:solidFill>
                  <a:srgbClr val="303E48"/>
                </a:solidFill>
                <a:latin typeface="Montserrat-Regular"/>
              </a:rPr>
              <a:t>C</a:t>
            </a:r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oordonnateur pédagogique</a:t>
            </a:r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62C56AB-D78B-47C9-6310-D144C3BF4E11}"/>
              </a:ext>
            </a:extLst>
          </p:cNvPr>
          <p:cNvSpPr txBox="1"/>
          <p:nvPr/>
        </p:nvSpPr>
        <p:spPr>
          <a:xfrm>
            <a:off x="6096000" y="4819090"/>
            <a:ext cx="50455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Assure le suivi du déroulement des enseignements, de </a:t>
            </a:r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l'évaluation et des délibérations.</a:t>
            </a:r>
            <a:endParaRPr lang="fr-FR" dirty="0"/>
          </a:p>
        </p:txBody>
      </p:sp>
      <p:sp>
        <p:nvSpPr>
          <p:cNvPr id="41" name="Flèche : chevron 40">
            <a:extLst>
              <a:ext uri="{FF2B5EF4-FFF2-40B4-BE49-F238E27FC236}">
                <a16:creationId xmlns:a16="http://schemas.microsoft.com/office/drawing/2014/main" id="{86D25CF4-F54F-4FD4-1525-90D4F02E1A68}"/>
              </a:ext>
            </a:extLst>
          </p:cNvPr>
          <p:cNvSpPr/>
          <p:nvPr/>
        </p:nvSpPr>
        <p:spPr>
          <a:xfrm>
            <a:off x="5712891" y="5093300"/>
            <a:ext cx="256122" cy="37491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556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1964D8-2271-38E9-CB5E-1599FE8CDADD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122A1D6A-AB17-FA13-47A1-16BB355250BA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C7D8DE-2F9A-1303-4FED-5EB4B9F5BB2F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8266B94-E0D5-28B3-C5B7-007A2B7651EF}"/>
              </a:ext>
            </a:extLst>
          </p:cNvPr>
          <p:cNvSpPr/>
          <p:nvPr/>
        </p:nvSpPr>
        <p:spPr>
          <a:xfrm>
            <a:off x="277788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Module</a:t>
            </a:r>
          </a:p>
        </p:txBody>
      </p:sp>
      <p:pic>
        <p:nvPicPr>
          <p:cNvPr id="7" name="Image 6" descr="Une image contenant Graphique, cercle, logo, Police&#10;&#10;Description générée automatiquement">
            <a:extLst>
              <a:ext uri="{FF2B5EF4-FFF2-40B4-BE49-F238E27FC236}">
                <a16:creationId xmlns:a16="http://schemas.microsoft.com/office/drawing/2014/main" id="{294A31FF-AAE8-A389-E7EC-DC5337EF3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5" y="1772879"/>
            <a:ext cx="1424649" cy="1689017"/>
          </a:xfrm>
          <a:prstGeom prst="rect">
            <a:avLst/>
          </a:prstGeom>
        </p:spPr>
      </p:pic>
      <p:pic>
        <p:nvPicPr>
          <p:cNvPr id="9" name="Image 8" descr="Une image contenant Graphique, symbole, cercle, Police&#10;&#10;Description générée automatiquement">
            <a:extLst>
              <a:ext uri="{FF2B5EF4-FFF2-40B4-BE49-F238E27FC236}">
                <a16:creationId xmlns:a16="http://schemas.microsoft.com/office/drawing/2014/main" id="{1FBB1D4D-E7C7-9369-2381-B3E43C3E4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452" y="1772879"/>
            <a:ext cx="1424649" cy="1689017"/>
          </a:xfrm>
          <a:prstGeom prst="rect">
            <a:avLst/>
          </a:prstGeom>
        </p:spPr>
      </p:pic>
      <p:pic>
        <p:nvPicPr>
          <p:cNvPr id="11" name="Image 10" descr="Une image contenant symbole, logo, capture d’écran, Graphique&#10;&#10;Description générée automatiquement">
            <a:extLst>
              <a:ext uri="{FF2B5EF4-FFF2-40B4-BE49-F238E27FC236}">
                <a16:creationId xmlns:a16="http://schemas.microsoft.com/office/drawing/2014/main" id="{2826A893-BDE4-444F-C529-6852EEF7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734" y="1772879"/>
            <a:ext cx="1424649" cy="168901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5239C80-74BE-513D-62A0-29FC653C5176}"/>
              </a:ext>
            </a:extLst>
          </p:cNvPr>
          <p:cNvSpPr txBox="1"/>
          <p:nvPr/>
        </p:nvSpPr>
        <p:spPr>
          <a:xfrm>
            <a:off x="3664850" y="3461896"/>
            <a:ext cx="1932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Modules disciplinaires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06454CA-2F17-4681-0A79-4A15A69DF350}"/>
              </a:ext>
            </a:extLst>
          </p:cNvPr>
          <p:cNvSpPr txBox="1"/>
          <p:nvPr/>
        </p:nvSpPr>
        <p:spPr>
          <a:xfrm>
            <a:off x="6185315" y="3461896"/>
            <a:ext cx="23766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Modules de langues</a:t>
            </a:r>
          </a:p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étrangères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4CAD9FC-AC83-9C46-33E9-3436C4C2EDB6}"/>
              </a:ext>
            </a:extLst>
          </p:cNvPr>
          <p:cNvSpPr txBox="1"/>
          <p:nvPr/>
        </p:nvSpPr>
        <p:spPr>
          <a:xfrm>
            <a:off x="9362141" y="3581627"/>
            <a:ext cx="156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Power </a:t>
            </a:r>
            <a:r>
              <a:rPr lang="fr-FR" sz="1800" b="0" i="0" u="none" strike="noStrike" baseline="0" dirty="0" err="1">
                <a:solidFill>
                  <a:srgbClr val="303E48"/>
                </a:solidFill>
                <a:latin typeface="Montserrat-Regular"/>
              </a:rPr>
              <a:t>skills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5A01492-C847-0611-B5A4-38F8A6CE8FA0}"/>
              </a:ext>
            </a:extLst>
          </p:cNvPr>
          <p:cNvSpPr txBox="1"/>
          <p:nvPr/>
        </p:nvSpPr>
        <p:spPr>
          <a:xfrm>
            <a:off x="2789496" y="6151006"/>
            <a:ext cx="216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Cours théoriques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EF3EF10-36FE-9BBE-CBA5-C3D5C10E90A1}"/>
              </a:ext>
            </a:extLst>
          </p:cNvPr>
          <p:cNvSpPr txBox="1"/>
          <p:nvPr/>
        </p:nvSpPr>
        <p:spPr>
          <a:xfrm>
            <a:off x="5106819" y="6151006"/>
            <a:ext cx="1932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Travaux dirigés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FCD701-8CEA-1ADD-1080-FDCE938AE2D9}"/>
              </a:ext>
            </a:extLst>
          </p:cNvPr>
          <p:cNvSpPr txBox="1"/>
          <p:nvPr/>
        </p:nvSpPr>
        <p:spPr>
          <a:xfrm>
            <a:off x="7230270" y="6151006"/>
            <a:ext cx="2296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Travaux pratiques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4FD3494-FA72-7FC5-CE7F-ED52463CD0F7}"/>
              </a:ext>
            </a:extLst>
          </p:cNvPr>
          <p:cNvSpPr txBox="1"/>
          <p:nvPr/>
        </p:nvSpPr>
        <p:spPr>
          <a:xfrm>
            <a:off x="9717373" y="6151006"/>
            <a:ext cx="216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Projets ou stages</a:t>
            </a:r>
            <a:endParaRPr lang="fr-FR" dirty="0"/>
          </a:p>
        </p:txBody>
      </p:sp>
      <p:pic>
        <p:nvPicPr>
          <p:cNvPr id="35" name="Image 34" descr="Une image contenant habits, Visage humain, personne, verres&#10;&#10;Description générée automatiquement">
            <a:extLst>
              <a:ext uri="{FF2B5EF4-FFF2-40B4-BE49-F238E27FC236}">
                <a16:creationId xmlns:a16="http://schemas.microsoft.com/office/drawing/2014/main" id="{7F0DE82F-5AB5-0F8F-08CA-9A80C49228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773" y="4741523"/>
            <a:ext cx="2296628" cy="1097088"/>
          </a:xfrm>
          <a:prstGeom prst="rect">
            <a:avLst/>
          </a:prstGeom>
        </p:spPr>
      </p:pic>
      <p:pic>
        <p:nvPicPr>
          <p:cNvPr id="39" name="Image 38" descr="Une image contenant verres, Visage humain, dessin humoristique, illustration&#10;&#10;Description générée automatiquement">
            <a:extLst>
              <a:ext uri="{FF2B5EF4-FFF2-40B4-BE49-F238E27FC236}">
                <a16:creationId xmlns:a16="http://schemas.microsoft.com/office/drawing/2014/main" id="{AC3E2E73-9EFB-782F-9856-8B1C498112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440" y="4713617"/>
            <a:ext cx="1686287" cy="1124994"/>
          </a:xfrm>
          <a:prstGeom prst="rect">
            <a:avLst/>
          </a:prstGeom>
        </p:spPr>
      </p:pic>
      <p:pic>
        <p:nvPicPr>
          <p:cNvPr id="43" name="Image 42" descr="Une image contenant habits, football, balle, dessin humoristique&#10;&#10;Description générée automatiquement">
            <a:extLst>
              <a:ext uri="{FF2B5EF4-FFF2-40B4-BE49-F238E27FC236}">
                <a16:creationId xmlns:a16="http://schemas.microsoft.com/office/drawing/2014/main" id="{80838587-F3FF-AA2A-0E14-0520110F17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013" y="4567991"/>
            <a:ext cx="1474004" cy="1289190"/>
          </a:xfrm>
          <a:prstGeom prst="rect">
            <a:avLst/>
          </a:prstGeom>
        </p:spPr>
      </p:pic>
      <p:pic>
        <p:nvPicPr>
          <p:cNvPr id="45" name="Image 44" descr="Une image contenant habits, homme, dessin humoristique, personne&#10;&#10;Description générée automatiquement">
            <a:extLst>
              <a:ext uri="{FF2B5EF4-FFF2-40B4-BE49-F238E27FC236}">
                <a16:creationId xmlns:a16="http://schemas.microsoft.com/office/drawing/2014/main" id="{D8D64389-3D56-9065-A34D-DE757D33B8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483" y="4598171"/>
            <a:ext cx="1932911" cy="12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03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1964D8-2271-38E9-CB5E-1599FE8CDADD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122A1D6A-AB17-FA13-47A1-16BB355250BA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C7D8DE-2F9A-1303-4FED-5EB4B9F5BB2F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8266B94-E0D5-28B3-C5B7-007A2B7651EF}"/>
              </a:ext>
            </a:extLst>
          </p:cNvPr>
          <p:cNvSpPr/>
          <p:nvPr/>
        </p:nvSpPr>
        <p:spPr>
          <a:xfrm>
            <a:off x="277788" y="2523286"/>
            <a:ext cx="2951544" cy="2851892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Module</a:t>
            </a:r>
          </a:p>
        </p:txBody>
      </p:sp>
      <p:pic>
        <p:nvPicPr>
          <p:cNvPr id="7" name="Image 6" descr="Une image contenant Graphique, cercle, logo, Police&#10;&#10;Description générée automatiquement">
            <a:extLst>
              <a:ext uri="{FF2B5EF4-FFF2-40B4-BE49-F238E27FC236}">
                <a16:creationId xmlns:a16="http://schemas.microsoft.com/office/drawing/2014/main" id="{294A31FF-AAE8-A389-E7EC-DC5337EF3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5" y="1772879"/>
            <a:ext cx="1424649" cy="1689017"/>
          </a:xfrm>
          <a:prstGeom prst="rect">
            <a:avLst/>
          </a:prstGeom>
        </p:spPr>
      </p:pic>
      <p:pic>
        <p:nvPicPr>
          <p:cNvPr id="9" name="Image 8" descr="Une image contenant Graphique, symbole, cercle, Police&#10;&#10;Description générée automatiquement">
            <a:extLst>
              <a:ext uri="{FF2B5EF4-FFF2-40B4-BE49-F238E27FC236}">
                <a16:creationId xmlns:a16="http://schemas.microsoft.com/office/drawing/2014/main" id="{1FBB1D4D-E7C7-9369-2381-B3E43C3E4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452" y="1772879"/>
            <a:ext cx="1424649" cy="1689017"/>
          </a:xfrm>
          <a:prstGeom prst="rect">
            <a:avLst/>
          </a:prstGeom>
        </p:spPr>
      </p:pic>
      <p:pic>
        <p:nvPicPr>
          <p:cNvPr id="11" name="Image 10" descr="Une image contenant symbole, logo, capture d’écran, Graphique&#10;&#10;Description générée automatiquement">
            <a:extLst>
              <a:ext uri="{FF2B5EF4-FFF2-40B4-BE49-F238E27FC236}">
                <a16:creationId xmlns:a16="http://schemas.microsoft.com/office/drawing/2014/main" id="{2826A893-BDE4-444F-C529-6852EEF7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734" y="1772879"/>
            <a:ext cx="1424649" cy="168901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5239C80-74BE-513D-62A0-29FC653C5176}"/>
              </a:ext>
            </a:extLst>
          </p:cNvPr>
          <p:cNvSpPr txBox="1"/>
          <p:nvPr/>
        </p:nvSpPr>
        <p:spPr>
          <a:xfrm>
            <a:off x="3664850" y="3461896"/>
            <a:ext cx="1932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Modules disciplinaires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06454CA-2F17-4681-0A79-4A15A69DF350}"/>
              </a:ext>
            </a:extLst>
          </p:cNvPr>
          <p:cNvSpPr txBox="1"/>
          <p:nvPr/>
        </p:nvSpPr>
        <p:spPr>
          <a:xfrm>
            <a:off x="6185315" y="3461896"/>
            <a:ext cx="23766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Modules de langues</a:t>
            </a:r>
          </a:p>
          <a:p>
            <a:pPr algn="ctr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étrangères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4CAD9FC-AC83-9C46-33E9-3436C4C2EDB6}"/>
              </a:ext>
            </a:extLst>
          </p:cNvPr>
          <p:cNvSpPr txBox="1"/>
          <p:nvPr/>
        </p:nvSpPr>
        <p:spPr>
          <a:xfrm>
            <a:off x="9362141" y="3581627"/>
            <a:ext cx="156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Power </a:t>
            </a:r>
            <a:r>
              <a:rPr lang="fr-FR" sz="1800" b="0" i="0" u="none" strike="noStrike" baseline="0" dirty="0" err="1">
                <a:solidFill>
                  <a:srgbClr val="303E48"/>
                </a:solidFill>
                <a:latin typeface="Montserrat-Regular"/>
              </a:rPr>
              <a:t>skills</a:t>
            </a:r>
            <a:endParaRPr lang="fr-FR" dirty="0"/>
          </a:p>
        </p:txBody>
      </p:sp>
      <p:pic>
        <p:nvPicPr>
          <p:cNvPr id="6" name="Image 5" descr="Une image contenant habits, verres, clipart, dessin humoristique&#10;&#10;Description générée automatiquement">
            <a:extLst>
              <a:ext uri="{FF2B5EF4-FFF2-40B4-BE49-F238E27FC236}">
                <a16:creationId xmlns:a16="http://schemas.microsoft.com/office/drawing/2014/main" id="{843D9290-7C5A-9F65-E20B-DAA8B2AD4E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54" y="4353986"/>
            <a:ext cx="2024273" cy="167354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FE9E43A-261B-E842-0AF5-FF2EFD341E0F}"/>
              </a:ext>
            </a:extLst>
          </p:cNvPr>
          <p:cNvSpPr txBox="1"/>
          <p:nvPr/>
        </p:nvSpPr>
        <p:spPr>
          <a:xfrm>
            <a:off x="3114480" y="5934670"/>
            <a:ext cx="2279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>
                <a:solidFill>
                  <a:srgbClr val="303E48"/>
                </a:solidFill>
                <a:latin typeface="Montserrat-Regular"/>
              </a:rPr>
              <a:t>C</a:t>
            </a:r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oordonnateur pédagogique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E8AD77-2D12-6708-DCF3-D04DBEEA9DC3}"/>
              </a:ext>
            </a:extLst>
          </p:cNvPr>
          <p:cNvSpPr txBox="1"/>
          <p:nvPr/>
        </p:nvSpPr>
        <p:spPr>
          <a:xfrm>
            <a:off x="6096000" y="4819090"/>
            <a:ext cx="50455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Assure le suivi du déroulement des enseignements, de </a:t>
            </a:r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l'évaluation et des délibérations.</a:t>
            </a:r>
            <a:endParaRPr lang="fr-FR" dirty="0"/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id="{74165EE7-1EEC-5B04-5A8F-1718FDFB203E}"/>
              </a:ext>
            </a:extLst>
          </p:cNvPr>
          <p:cNvSpPr/>
          <p:nvPr/>
        </p:nvSpPr>
        <p:spPr>
          <a:xfrm>
            <a:off x="5712891" y="5093300"/>
            <a:ext cx="256122" cy="37491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33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84647CE-FF7A-C059-6F4F-8E507161D105}"/>
              </a:ext>
            </a:extLst>
          </p:cNvPr>
          <p:cNvSpPr/>
          <p:nvPr/>
        </p:nvSpPr>
        <p:spPr>
          <a:xfrm>
            <a:off x="2801075" y="2002420"/>
            <a:ext cx="8808334" cy="394696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1A8DA8-19FD-40B8-B31D-C85826240081}"/>
              </a:ext>
            </a:extLst>
          </p:cNvPr>
          <p:cNvSpPr txBox="1"/>
          <p:nvPr/>
        </p:nvSpPr>
        <p:spPr>
          <a:xfrm>
            <a:off x="9389964" y="4833543"/>
            <a:ext cx="1849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>
                <a:solidFill>
                  <a:srgbClr val="303E48"/>
                </a:solidFill>
                <a:latin typeface="Montserrat-Regular"/>
              </a:rPr>
              <a:t>C</a:t>
            </a:r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réer votre propre entreprise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F17FD5-5754-0C7D-40EA-EF4BFA4A7697}"/>
              </a:ext>
            </a:extLst>
          </p:cNvPr>
          <p:cNvSpPr txBox="1"/>
          <p:nvPr/>
        </p:nvSpPr>
        <p:spPr>
          <a:xfrm>
            <a:off x="2997017" y="4833543"/>
            <a:ext cx="2393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>
                <a:solidFill>
                  <a:srgbClr val="303E48"/>
                </a:solidFill>
                <a:latin typeface="Montserrat-Regular"/>
              </a:rPr>
              <a:t>Etudes</a:t>
            </a:r>
            <a:r>
              <a:rPr lang="fr-FR" dirty="0">
                <a:solidFill>
                  <a:srgbClr val="303E48"/>
                </a:solidFill>
                <a:latin typeface="Montserrat-Regular"/>
              </a:rPr>
              <a:t> </a:t>
            </a:r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supérieures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B95C25-E807-AEC4-2C98-17BF8706FC05}"/>
              </a:ext>
            </a:extLst>
          </p:cNvPr>
          <p:cNvSpPr txBox="1"/>
          <p:nvPr/>
        </p:nvSpPr>
        <p:spPr>
          <a:xfrm>
            <a:off x="6191799" y="4755619"/>
            <a:ext cx="2254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u="none" strike="noStrike" baseline="0" dirty="0">
                <a:solidFill>
                  <a:srgbClr val="303E48"/>
                </a:solidFill>
                <a:latin typeface="Montserrat-Regular"/>
              </a:rPr>
              <a:t>Intégrer le milieu socioéconomique 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892E0F-3534-904E-C61F-572C66B7DF08}"/>
              </a:ext>
            </a:extLst>
          </p:cNvPr>
          <p:cNvSpPr txBox="1"/>
          <p:nvPr/>
        </p:nvSpPr>
        <p:spPr>
          <a:xfrm>
            <a:off x="674226" y="180333"/>
            <a:ext cx="224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Chapitre 1</a:t>
            </a:r>
          </a:p>
          <a:p>
            <a:r>
              <a:rPr lang="fr-FR" sz="2000" dirty="0">
                <a:solidFill>
                  <a:schemeClr val="accent1">
                    <a:lumMod val="50000"/>
                  </a:schemeClr>
                </a:solidFill>
              </a:rPr>
              <a:t>La vie à l’université</a:t>
            </a:r>
          </a:p>
        </p:txBody>
      </p:sp>
      <p:sp>
        <p:nvSpPr>
          <p:cNvPr id="9" name="Flèche : chevron 8">
            <a:extLst>
              <a:ext uri="{FF2B5EF4-FFF2-40B4-BE49-F238E27FC236}">
                <a16:creationId xmlns:a16="http://schemas.microsoft.com/office/drawing/2014/main" id="{00FB069F-C193-5413-575D-525D2A4D0650}"/>
              </a:ext>
            </a:extLst>
          </p:cNvPr>
          <p:cNvSpPr/>
          <p:nvPr/>
        </p:nvSpPr>
        <p:spPr>
          <a:xfrm>
            <a:off x="298048" y="312517"/>
            <a:ext cx="300942" cy="48613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5BEB43-FB7F-6FA5-F2B2-7188A1AF9EB1}"/>
              </a:ext>
            </a:extLst>
          </p:cNvPr>
          <p:cNvSpPr txBox="1"/>
          <p:nvPr/>
        </p:nvSpPr>
        <p:spPr>
          <a:xfrm>
            <a:off x="1620454" y="1193460"/>
            <a:ext cx="895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-Bold"/>
              </a:rPr>
              <a:t>ORGANISATION PÉDAGOGIQUE DE LA FORMATION UNIVERSITAIRE</a:t>
            </a:r>
            <a:endParaRPr lang="fr-F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Image 11" descr="Une image contenant cercle, symbole, Graphique, Caractère coloré&#10;&#10;Description générée automatiquement">
            <a:extLst>
              <a:ext uri="{FF2B5EF4-FFF2-40B4-BE49-F238E27FC236}">
                <a16:creationId xmlns:a16="http://schemas.microsoft.com/office/drawing/2014/main" id="{E58196F1-3B6B-CF20-92AE-BF3B46F1F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20" y="3225288"/>
            <a:ext cx="1507843" cy="150123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18CBB5-CD62-8F0B-5E29-11A464B1EDA5}"/>
              </a:ext>
            </a:extLst>
          </p:cNvPr>
          <p:cNvSpPr txBox="1"/>
          <p:nvPr/>
        </p:nvSpPr>
        <p:spPr>
          <a:xfrm>
            <a:off x="319711" y="4756599"/>
            <a:ext cx="1507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800" b="0" i="0" u="none" strike="noStrike" baseline="0" dirty="0">
                <a:solidFill>
                  <a:srgbClr val="303E48"/>
                </a:solidFill>
                <a:latin typeface="Montserrat-Regular"/>
              </a:rPr>
              <a:t>Filières</a:t>
            </a:r>
            <a:endParaRPr lang="fr-FR" sz="2800" dirty="0"/>
          </a:p>
        </p:txBody>
      </p:sp>
      <p:pic>
        <p:nvPicPr>
          <p:cNvPr id="15" name="Image 14" descr="Une image contenant phare, conception&#10;&#10;Description générée automatiquement">
            <a:extLst>
              <a:ext uri="{FF2B5EF4-FFF2-40B4-BE49-F238E27FC236}">
                <a16:creationId xmlns:a16="http://schemas.microsoft.com/office/drawing/2014/main" id="{34DB99F9-9854-D481-3652-0D81E30CF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47" y="2487002"/>
            <a:ext cx="2340000" cy="2340000"/>
          </a:xfrm>
          <a:prstGeom prst="rect">
            <a:avLst/>
          </a:prstGeom>
        </p:spPr>
      </p:pic>
      <p:pic>
        <p:nvPicPr>
          <p:cNvPr id="17" name="Image 16" descr="Une image contenant symbole, Graphique, conception, logo&#10;&#10;Description générée automatiquement">
            <a:extLst>
              <a:ext uri="{FF2B5EF4-FFF2-40B4-BE49-F238E27FC236}">
                <a16:creationId xmlns:a16="http://schemas.microsoft.com/office/drawing/2014/main" id="{7902F5A6-70D5-D958-D0FA-5482E5B3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50" y="2491011"/>
            <a:ext cx="2340000" cy="2331983"/>
          </a:xfrm>
          <a:prstGeom prst="rect">
            <a:avLst/>
          </a:prstGeom>
        </p:spPr>
      </p:pic>
      <p:pic>
        <p:nvPicPr>
          <p:cNvPr id="19" name="Image 18" descr="Une image contenant habits, homme, costume, ordinateur&#10;&#10;Description générée automatiquement">
            <a:extLst>
              <a:ext uri="{FF2B5EF4-FFF2-40B4-BE49-F238E27FC236}">
                <a16:creationId xmlns:a16="http://schemas.microsoft.com/office/drawing/2014/main" id="{8497A780-E5DE-C7E0-50DB-18C1085E56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745" y="2487002"/>
            <a:ext cx="2340000" cy="2340000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0B5FE1B-BE7F-5909-AFCB-038CB8E33222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>
            <a:off x="1844963" y="3975903"/>
            <a:ext cx="95611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816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394</Words>
  <Application>Microsoft Office PowerPoint</Application>
  <PresentationFormat>Grand écran</PresentationFormat>
  <Paragraphs>145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Aharoni</vt:lpstr>
      <vt:lpstr>Arial</vt:lpstr>
      <vt:lpstr>Calibri</vt:lpstr>
      <vt:lpstr>Calibri Light</vt:lpstr>
      <vt:lpstr>Montserrat-Bold</vt:lpstr>
      <vt:lpstr>Montserrat-Regular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Mehdi Irzan</dc:creator>
  <cp:lastModifiedBy>Mehdi Irzan</cp:lastModifiedBy>
  <cp:revision>5</cp:revision>
  <dcterms:created xsi:type="dcterms:W3CDTF">2023-10-31T10:12:37Z</dcterms:created>
  <dcterms:modified xsi:type="dcterms:W3CDTF">2023-10-31T18:25:55Z</dcterms:modified>
</cp:coreProperties>
</file>